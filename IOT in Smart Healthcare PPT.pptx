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oper Hewitt Bold" charset="1" panose="00000000000000000000"/>
      <p:regular r:id="rId21"/>
    </p:embeddedFont>
    <p:embeddedFont>
      <p:font typeface="Alatsi" charset="1" panose="00000500000000000000"/>
      <p:regular r:id="rId22"/>
    </p:embeddedFont>
    <p:embeddedFont>
      <p:font typeface="Open Sauce" charset="1" panose="00000500000000000000"/>
      <p:regular r:id="rId23"/>
    </p:embeddedFont>
    <p:embeddedFont>
      <p:font typeface="Open Sauce Semi-Bold" charset="1" panose="00000700000000000000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2247558" y="1830705"/>
            <a:ext cx="13792884" cy="414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1000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IOT-BASED SMART HEALTHCARE MONITORING SYSTEM  </a:t>
            </a:r>
          </a:p>
        </p:txBody>
      </p:sp>
      <p:sp>
        <p:nvSpPr>
          <p:cNvPr name="AutoShape 16" id="16"/>
          <p:cNvSpPr/>
          <p:nvPr/>
        </p:nvSpPr>
        <p:spPr>
          <a:xfrm>
            <a:off x="2314008" y="5971139"/>
            <a:ext cx="1301598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5329995" y="1201099"/>
            <a:ext cx="1576304" cy="1392563"/>
          </a:xfrm>
          <a:custGeom>
            <a:avLst/>
            <a:gdLst/>
            <a:ahLst/>
            <a:cxnLst/>
            <a:rect r="r" b="b" t="t" l="l"/>
            <a:pathLst>
              <a:path h="1392563" w="1576304">
                <a:moveTo>
                  <a:pt x="0" y="0"/>
                </a:moveTo>
                <a:lnTo>
                  <a:pt x="1576304" y="0"/>
                </a:lnTo>
                <a:lnTo>
                  <a:pt x="1576304" y="1392562"/>
                </a:lnTo>
                <a:lnTo>
                  <a:pt x="0" y="1392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532065" y="6603868"/>
            <a:ext cx="7223870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Guided by:  Dr. Mahesh Kumar Singh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59357" y="7321766"/>
            <a:ext cx="10778810" cy="60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9"/>
              </a:lnSpc>
            </a:pPr>
            <a:r>
              <a:rPr lang="en-US" sz="36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By : </a:t>
            </a:r>
            <a:r>
              <a:rPr lang="en-US" sz="36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Siya Ravichandra Shetty (241220055)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90990" y="1579494"/>
            <a:ext cx="12440566" cy="161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TABLE OF CONTENT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585153" y="3575015"/>
            <a:ext cx="3782707" cy="1165850"/>
            <a:chOff x="0" y="0"/>
            <a:chExt cx="5043610" cy="155446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19919" y="3575015"/>
            <a:ext cx="3782707" cy="1165850"/>
            <a:chOff x="0" y="0"/>
            <a:chExt cx="5043610" cy="155446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04543" y="50158"/>
              <a:ext cx="3832963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Proposed System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85153" y="8092450"/>
            <a:ext cx="3782707" cy="1165850"/>
            <a:chOff x="0" y="0"/>
            <a:chExt cx="5043610" cy="155446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Objectives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85153" y="5121865"/>
            <a:ext cx="3782707" cy="1165850"/>
            <a:chOff x="0" y="0"/>
            <a:chExt cx="5043610" cy="155446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05324" y="50158"/>
              <a:ext cx="3832963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Literature Review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19919" y="6678951"/>
            <a:ext cx="3782707" cy="1165850"/>
            <a:chOff x="0" y="0"/>
            <a:chExt cx="5043610" cy="155446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Methodology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0"/>
            <a:ext cx="782539" cy="10287000"/>
            <a:chOff x="0" y="0"/>
            <a:chExt cx="206101" cy="27093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61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206101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514986" y="0"/>
            <a:ext cx="782539" cy="10287000"/>
            <a:chOff x="0" y="0"/>
            <a:chExt cx="206101" cy="27093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61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206101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5400000">
            <a:off x="8752731" y="751731"/>
            <a:ext cx="782539" cy="18288000"/>
            <a:chOff x="0" y="0"/>
            <a:chExt cx="206101" cy="481659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419919" y="5143500"/>
            <a:ext cx="3782707" cy="1165850"/>
            <a:chOff x="0" y="0"/>
            <a:chExt cx="5043610" cy="1554466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605324" y="50158"/>
              <a:ext cx="3832963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System Architecture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585153" y="6668714"/>
            <a:ext cx="3782707" cy="1165850"/>
            <a:chOff x="0" y="0"/>
            <a:chExt cx="5043610" cy="1554466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Research Gaps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42892" y="3575015"/>
            <a:ext cx="3782707" cy="1165850"/>
            <a:chOff x="0" y="0"/>
            <a:chExt cx="5043610" cy="1554466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Result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419919" y="8092450"/>
            <a:ext cx="3782707" cy="1165850"/>
            <a:chOff x="0" y="0"/>
            <a:chExt cx="5043610" cy="1554466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Implementation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942892" y="6668714"/>
            <a:ext cx="3782707" cy="1165850"/>
            <a:chOff x="0" y="0"/>
            <a:chExt cx="5043610" cy="1554466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Conclusion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942892" y="8092450"/>
            <a:ext cx="3782707" cy="1165850"/>
            <a:chOff x="0" y="0"/>
            <a:chExt cx="5043610" cy="1554466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Citation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942892" y="5121865"/>
            <a:ext cx="3782707" cy="1165850"/>
            <a:chOff x="0" y="0"/>
            <a:chExt cx="5043610" cy="1554466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5043610" cy="1554466"/>
              <a:chOff x="0" y="0"/>
              <a:chExt cx="996269" cy="307055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996269" cy="307055"/>
              </a:xfrm>
              <a:custGeom>
                <a:avLst/>
                <a:gdLst/>
                <a:ahLst/>
                <a:cxnLst/>
                <a:rect r="r" b="b" t="t" l="l"/>
                <a:pathLst>
                  <a:path h="307055" w="996269">
                    <a:moveTo>
                      <a:pt x="153528" y="0"/>
                    </a:moveTo>
                    <a:lnTo>
                      <a:pt x="842741" y="0"/>
                    </a:lnTo>
                    <a:cubicBezTo>
                      <a:pt x="883459" y="0"/>
                      <a:pt x="922509" y="16175"/>
                      <a:pt x="951301" y="44967"/>
                    </a:cubicBezTo>
                    <a:cubicBezTo>
                      <a:pt x="980093" y="73759"/>
                      <a:pt x="996269" y="112810"/>
                      <a:pt x="996269" y="153528"/>
                    </a:cubicBezTo>
                    <a:lnTo>
                      <a:pt x="996269" y="153528"/>
                    </a:lnTo>
                    <a:cubicBezTo>
                      <a:pt x="996269" y="238318"/>
                      <a:pt x="927532" y="307055"/>
                      <a:pt x="842741" y="307055"/>
                    </a:cubicBezTo>
                    <a:lnTo>
                      <a:pt x="153528" y="307055"/>
                    </a:lnTo>
                    <a:cubicBezTo>
                      <a:pt x="112810" y="307055"/>
                      <a:pt x="73759" y="290880"/>
                      <a:pt x="44967" y="262088"/>
                    </a:cubicBezTo>
                    <a:cubicBezTo>
                      <a:pt x="16175" y="233296"/>
                      <a:pt x="0" y="194246"/>
                      <a:pt x="0" y="153528"/>
                    </a:cubicBezTo>
                    <a:lnTo>
                      <a:pt x="0" y="153528"/>
                    </a:lnTo>
                    <a:cubicBezTo>
                      <a:pt x="0" y="112810"/>
                      <a:pt x="16175" y="73759"/>
                      <a:pt x="44967" y="44967"/>
                    </a:cubicBezTo>
                    <a:cubicBezTo>
                      <a:pt x="73759" y="16175"/>
                      <a:pt x="112810" y="0"/>
                      <a:pt x="153528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76200"/>
                <a:ext cx="996269" cy="383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605324" y="405758"/>
              <a:ext cx="383296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Future Scope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NTRODUCTION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101" y="3152727"/>
            <a:ext cx="15123324" cy="657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Internet of Th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ings (IoT) enables smart connectivity between devices and the internet.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Healthcare monitoring traditionally requires hospital visits and manual measurement of vital signs.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Continuous monitoring is important for elderly patients and people with chronic diseases.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IoT-based healthcare systems allow real-time monitoring and remote access to health data.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project proposes a smart healthcare monitoring system using sensors and cloud technology.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LI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TERATURE REVIEW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101" y="3152727"/>
            <a:ext cx="15123324" cy="657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Sever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 studies have proposed healthcare monitoring systems using microcontrollers and biomedical sensors.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Heart ra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 monitoring systems using Arduino and Raspberry Pi have been widely implemented.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Cloud platforms such as ThingSpeak and Firebase are commonly used for remote health monitoring.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Wearable devices allow portable and continuous monitoring of vital parameters.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However, many existing systems face challenges such as high cost, complexity, and limited scalability.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RESEA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RCH GAPS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2338" y="4229283"/>
            <a:ext cx="15123324" cy="35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Lack of 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low-cost healthcare monitoring solutions.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Limited real-time remote monitoring capabilities.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isting systems often lack scalability and modular design.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ome solutions do not integrate cloud platforms effectively.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Need for a portable and reliable health monitoring system.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OBJECTIVE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101" y="3750814"/>
            <a:ext cx="15123324" cy="477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design and develop an I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oT-based smart healthcare monitoring system.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measure vital parameters such as heart rate, body temperature, and SpO₂.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interface biomedical sensors with an ESP32 microcontroller.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transmit sensor data wirelessly using Wi-Fi.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visualize health data on a cloud-based dashboard.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PROPOSED SY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6737" y="3179772"/>
            <a:ext cx="15584052" cy="607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0185" indent="-340092" lvl="1">
              <a:lnSpc>
                <a:spcPts val="4410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proposed system continu</a:t>
            </a: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ously monitors vital health parameters using biomedical sensors.</a:t>
            </a:r>
          </a:p>
          <a:p>
            <a:pPr algn="ctr" marL="680185" indent="-340092" lvl="1">
              <a:lnSpc>
                <a:spcPts val="4410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Sensors measure heart rate, body temperature, and blood oxygen saturation (SpO₂).</a:t>
            </a:r>
          </a:p>
          <a:p>
            <a:pPr algn="ctr" marL="680185" indent="-340092" lvl="1">
              <a:lnSpc>
                <a:spcPts val="4410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sensors are interfaced with an ESP32 microcontroller for d</a:t>
            </a: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ata acquis</a:t>
            </a: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ition.</a:t>
            </a:r>
          </a:p>
          <a:p>
            <a:pPr algn="ctr" marL="680185" indent="-340092" lvl="1">
              <a:lnSpc>
                <a:spcPts val="4410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ESP32 proces</a:t>
            </a: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ses th</a:t>
            </a: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data and transmits it to a cloud platform via Wi-Fi.</a:t>
            </a:r>
          </a:p>
          <a:p>
            <a:pPr algn="ctr" marL="680185" indent="-340092" lvl="1">
              <a:lnSpc>
                <a:spcPts val="4410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collected data is displayed on a web or mobile dashboard for remote monitoring.</a:t>
            </a:r>
          </a:p>
          <a:p>
            <a:pPr algn="ctr" marL="680185" indent="-340092" lvl="1">
              <a:lnSpc>
                <a:spcPts val="4410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system provides a low-cost and portable healthcare monitoring solution.</a:t>
            </a:r>
          </a:p>
          <a:p>
            <a:pPr algn="ctr">
              <a:lnSpc>
                <a:spcPts val="441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SYSTEM ARCHITECTURE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57102" y="3454486"/>
            <a:ext cx="4865466" cy="2081314"/>
            <a:chOff x="0" y="0"/>
            <a:chExt cx="6487288" cy="277508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082902" cy="2775086"/>
              <a:chOff x="0" y="0"/>
              <a:chExt cx="806499" cy="54816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06499" cy="548165"/>
              </a:xfrm>
              <a:custGeom>
                <a:avLst/>
                <a:gdLst/>
                <a:ahLst/>
                <a:cxnLst/>
                <a:rect r="r" b="b" t="t" l="l"/>
                <a:pathLst>
                  <a:path h="548165" w="806499">
                    <a:moveTo>
                      <a:pt x="0" y="0"/>
                    </a:moveTo>
                    <a:lnTo>
                      <a:pt x="806499" y="0"/>
                    </a:lnTo>
                    <a:lnTo>
                      <a:pt x="806499" y="548165"/>
                    </a:lnTo>
                    <a:lnTo>
                      <a:pt x="0" y="548165"/>
                    </a:lnTo>
                    <a:close/>
                  </a:path>
                </a:pathLst>
              </a:custGeom>
              <a:solidFill>
                <a:srgbClr val="737373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76200"/>
                <a:ext cx="806499" cy="6243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4082835" y="1400243"/>
              <a:ext cx="2404453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709744"/>
              <a:ext cx="4082902" cy="1250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1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Heart Rate &amp; SpO₂ Sensor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815549" y="3617929"/>
            <a:ext cx="4056776" cy="1735379"/>
            <a:chOff x="0" y="0"/>
            <a:chExt cx="5409035" cy="231383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404282" cy="2313838"/>
              <a:chOff x="0" y="0"/>
              <a:chExt cx="806499" cy="54816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06499" cy="548165"/>
              </a:xfrm>
              <a:custGeom>
                <a:avLst/>
                <a:gdLst/>
                <a:ahLst/>
                <a:cxnLst/>
                <a:rect r="r" b="b" t="t" l="l"/>
                <a:pathLst>
                  <a:path h="548165" w="806499">
                    <a:moveTo>
                      <a:pt x="0" y="0"/>
                    </a:moveTo>
                    <a:lnTo>
                      <a:pt x="806499" y="0"/>
                    </a:lnTo>
                    <a:lnTo>
                      <a:pt x="806499" y="548165"/>
                    </a:lnTo>
                    <a:lnTo>
                      <a:pt x="0" y="548165"/>
                    </a:lnTo>
                    <a:close/>
                  </a:path>
                </a:pathLst>
              </a:custGeom>
              <a:solidFill>
                <a:srgbClr val="737373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76200"/>
                <a:ext cx="806499" cy="6243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AutoShape 29" id="29"/>
            <p:cNvSpPr/>
            <p:nvPr/>
          </p:nvSpPr>
          <p:spPr>
            <a:xfrm>
              <a:off x="3404227" y="1167508"/>
              <a:ext cx="2004809" cy="0"/>
            </a:xfrm>
            <a:prstGeom prst="line">
              <a:avLst/>
            </a:prstGeom>
            <a:ln cap="flat" w="42357">
              <a:solidFill>
                <a:srgbClr val="000000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849680"/>
              <a:ext cx="3404282" cy="590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3"/>
                </a:lnSpc>
                <a:spcBef>
                  <a:spcPct val="0"/>
                </a:spcBef>
              </a:pPr>
              <a:r>
                <a:rPr lang="en-US" b="true" sz="2401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Temperature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788747" y="4466569"/>
            <a:ext cx="3387163" cy="285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9628240" y="3454486"/>
            <a:ext cx="3062177" cy="2081314"/>
            <a:chOff x="0" y="0"/>
            <a:chExt cx="806499" cy="5481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6499" cy="548165"/>
            </a:xfrm>
            <a:custGeom>
              <a:avLst/>
              <a:gdLst/>
              <a:ahLst/>
              <a:cxnLst/>
              <a:rect r="r" b="b" t="t" l="l"/>
              <a:pathLst>
                <a:path h="548165" w="806499">
                  <a:moveTo>
                    <a:pt x="0" y="0"/>
                  </a:moveTo>
                  <a:lnTo>
                    <a:pt x="806499" y="0"/>
                  </a:lnTo>
                  <a:lnTo>
                    <a:pt x="806499" y="548165"/>
                  </a:lnTo>
                  <a:lnTo>
                    <a:pt x="0" y="548165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806499" cy="624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628240" y="3712951"/>
            <a:ext cx="3062177" cy="145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</a:pPr>
            <a:r>
              <a:rPr lang="en-US" sz="2400" b="true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ESP32 Controller</a:t>
            </a:r>
          </a:p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(Data Processing Unit)</a:t>
            </a:r>
          </a:p>
        </p:txBody>
      </p:sp>
      <p:sp>
        <p:nvSpPr>
          <p:cNvPr name="AutoShape 36" id="36"/>
          <p:cNvSpPr/>
          <p:nvPr/>
        </p:nvSpPr>
        <p:spPr>
          <a:xfrm>
            <a:off x="8068985" y="7357508"/>
            <a:ext cx="1803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9628190" y="6307326"/>
            <a:ext cx="5559370" cy="2081314"/>
            <a:chOff x="0" y="0"/>
            <a:chExt cx="7412493" cy="277508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4082902" cy="2775086"/>
              <a:chOff x="0" y="0"/>
              <a:chExt cx="806499" cy="548165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06499" cy="548165"/>
              </a:xfrm>
              <a:custGeom>
                <a:avLst/>
                <a:gdLst/>
                <a:ahLst/>
                <a:cxnLst/>
                <a:rect r="r" b="b" t="t" l="l"/>
                <a:pathLst>
                  <a:path h="548165" w="806499">
                    <a:moveTo>
                      <a:pt x="0" y="0"/>
                    </a:moveTo>
                    <a:lnTo>
                      <a:pt x="806499" y="0"/>
                    </a:lnTo>
                    <a:lnTo>
                      <a:pt x="806499" y="548165"/>
                    </a:lnTo>
                    <a:lnTo>
                      <a:pt x="0" y="548165"/>
                    </a:lnTo>
                    <a:close/>
                  </a:path>
                </a:pathLst>
              </a:custGeom>
              <a:solidFill>
                <a:srgbClr val="737373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76200"/>
                <a:ext cx="806499" cy="6243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sp>
          <p:nvSpPr>
            <p:cNvPr name="AutoShape 41" id="41"/>
            <p:cNvSpPr/>
            <p:nvPr/>
          </p:nvSpPr>
          <p:spPr>
            <a:xfrm flipV="true">
              <a:off x="4082902" y="1387543"/>
              <a:ext cx="3329494" cy="127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0" y="379544"/>
              <a:ext cx="4082902" cy="1911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1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Cloud</a:t>
              </a:r>
              <a:r>
                <a:rPr lang="en-US" b="true" sz="2400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Platform</a:t>
              </a:r>
            </a:p>
            <a:p>
              <a:pPr algn="ctr">
                <a:lnSpc>
                  <a:spcPts val="3911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uce Semi-Bold"/>
                  <a:ea typeface="Open Sauce Semi-Bold"/>
                  <a:cs typeface="Open Sauce Semi-Bold"/>
                  <a:sym typeface="Open Sauce Semi-Bold"/>
                </a:rPr>
                <a:t> (ThingSpeak / Firebase)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15175909" y="4466569"/>
            <a:ext cx="0" cy="28814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44" id="44"/>
          <p:cNvGrpSpPr/>
          <p:nvPr/>
        </p:nvGrpSpPr>
        <p:grpSpPr>
          <a:xfrm rot="0">
            <a:off x="5006859" y="6307326"/>
            <a:ext cx="3062177" cy="2081314"/>
            <a:chOff x="0" y="0"/>
            <a:chExt cx="806499" cy="54816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6499" cy="548165"/>
            </a:xfrm>
            <a:custGeom>
              <a:avLst/>
              <a:gdLst/>
              <a:ahLst/>
              <a:cxnLst/>
              <a:rect r="r" b="b" t="t" l="l"/>
              <a:pathLst>
                <a:path h="548165" w="806499">
                  <a:moveTo>
                    <a:pt x="0" y="0"/>
                  </a:moveTo>
                  <a:lnTo>
                    <a:pt x="806499" y="0"/>
                  </a:lnTo>
                  <a:lnTo>
                    <a:pt x="806499" y="548165"/>
                  </a:lnTo>
                  <a:lnTo>
                    <a:pt x="0" y="548165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806499" cy="624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006859" y="6575315"/>
            <a:ext cx="3062177" cy="145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Web / Mobil</a:t>
            </a:r>
            <a:r>
              <a:rPr lang="en-US" b="true" sz="240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 Dashboard</a:t>
            </a:r>
          </a:p>
          <a:p>
            <a:pPr algn="ctr">
              <a:lnSpc>
                <a:spcPts val="3911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(Data Visualization)</a:t>
            </a:r>
          </a:p>
        </p:txBody>
      </p:sp>
      <p:sp>
        <p:nvSpPr>
          <p:cNvPr name="TextBox 48" id="48"/>
          <p:cNvSpPr txBox="true"/>
          <p:nvPr/>
        </p:nvSpPr>
        <p:spPr>
          <a:xfrm rot="5400000">
            <a:off x="13699662" y="5584162"/>
            <a:ext cx="41132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Wi-Fi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ETHODOLOGY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101" y="4229283"/>
            <a:ext cx="15123324" cy="35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Bi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omedical sensors are connected to the ESP32 microcontroller.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ensors measure heart rate, SpO₂, and body temperature.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ESP32 processes the sensor data.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i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transmitted to the cloud platform via Wi-Fi.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c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loud platform displays real-time data on a dashboard.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IMPLEM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101" y="4324977"/>
            <a:ext cx="15123324" cy="35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Hardware assembly of sensor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and ESP32.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Sensor interfacing and circuit connections.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Embedded programming for data acquisition.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Wi-Fi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configuration for data transmission.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Cloud integration for data storage and visualization.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ESULT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2338" y="4181436"/>
            <a:ext cx="15123324" cy="2970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Succes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sful measurement of heart rate, temperature, and SpO₂.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eal-time transmission of health data to the cloud.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visual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ization through graphs and dashboard.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Syst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 demonstrates reliable remote health monitoring.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UTURE SCOPE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101" y="4181436"/>
            <a:ext cx="15123324" cy="35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Integration o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 machine learning for health prediction.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Development of a mobile health monitoring application.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Implementation of alert systems for 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abnormal readings.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ation with hospital management s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yst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ems.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Development of wearable healthcare devices.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2338" y="4034655"/>
            <a:ext cx="15123324" cy="417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project demonstrate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a smart IoT-based healthcare monitoring system.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Vital health parameters are measured and transmitted in real time.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Cloud integration allows remote monitoring and d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ata visual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ization.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yst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 supports preventive healthcare and early detection of health issues.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525" cy="10287000"/>
            <a:chOff x="0" y="0"/>
            <a:chExt cx="24396700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3385" cy="13716000"/>
              <a:chOff x="0" y="0"/>
              <a:chExt cx="206101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353315" y="0"/>
              <a:ext cx="1043385" cy="13716000"/>
              <a:chOff x="0" y="0"/>
              <a:chExt cx="206101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6101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206101" cy="2785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1670307" y="-11670307"/>
              <a:ext cx="1043385" cy="24384000"/>
              <a:chOff x="0" y="0"/>
              <a:chExt cx="206101" cy="481659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1670307" y="1002307"/>
              <a:ext cx="1043385" cy="24384000"/>
              <a:chOff x="0" y="0"/>
              <a:chExt cx="206101" cy="48165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6101" cy="4816592"/>
              </a:xfrm>
              <a:custGeom>
                <a:avLst/>
                <a:gdLst/>
                <a:ahLst/>
                <a:cxnLst/>
                <a:rect r="r" b="b" t="t" l="l"/>
                <a:pathLst>
                  <a:path h="4816592" w="206101">
                    <a:moveTo>
                      <a:pt x="0" y="0"/>
                    </a:moveTo>
                    <a:lnTo>
                      <a:pt x="206101" y="0"/>
                    </a:lnTo>
                    <a:lnTo>
                      <a:pt x="206101" y="4816592"/>
                    </a:lnTo>
                    <a:lnTo>
                      <a:pt x="0" y="48165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76200"/>
                <a:ext cx="206101" cy="48927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24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7102" y="1745480"/>
            <a:ext cx="15373796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CITATION</a:t>
            </a:r>
            <a:r>
              <a:rPr lang="en-US" b="true" sz="8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7101" y="4034655"/>
            <a:ext cx="15123324" cy="35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A. Al-Fuqaha et al., Inte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rnet of Things: A Survey on Enabling Technologies, IEEE, 2015.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M. Patel and J. Wang, Applications of IoT in Healthcare, IEEE IoT Journal, 2018.</a:t>
            </a:r>
          </a:p>
          <a:p>
            <a:pPr algn="ctr" marL="737011" indent="-368506" lvl="1">
              <a:lnSpc>
                <a:spcPts val="4779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J. G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ubbi et al., Internet of Things: V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</a:t>
            </a:r>
            <a:r>
              <a:rPr lang="en-US" sz="34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ion and Future Directions, 2013.</a:t>
            </a:r>
          </a:p>
          <a:p>
            <a:pPr algn="ctr">
              <a:lnSpc>
                <a:spcPts val="477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2539" cy="10287000"/>
            <a:chOff x="0" y="0"/>
            <a:chExt cx="2061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1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4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06101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14986" y="0"/>
            <a:ext cx="782539" cy="10287000"/>
            <a:chOff x="0" y="0"/>
            <a:chExt cx="2061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1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4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6101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F4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8752731" y="751731"/>
            <a:ext cx="782539" cy="18288000"/>
            <a:chOff x="0" y="0"/>
            <a:chExt cx="206101" cy="48165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F4E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68484" y="2895600"/>
            <a:ext cx="7551033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b="true" sz="150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8752731" y="-8752731"/>
            <a:ext cx="782539" cy="18288000"/>
            <a:chOff x="0" y="0"/>
            <a:chExt cx="206101" cy="48165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206101">
                  <a:moveTo>
                    <a:pt x="0" y="0"/>
                  </a:moveTo>
                  <a:lnTo>
                    <a:pt x="206101" y="0"/>
                  </a:lnTo>
                  <a:lnTo>
                    <a:pt x="2061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FFF4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101" cy="4892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4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DAHDqSfDXy4</dc:identifier>
  <dcterms:modified xsi:type="dcterms:W3CDTF">2011-08-01T06:04:30Z</dcterms:modified>
  <cp:revision>1</cp:revision>
  <dc:title>IOT in Smart Healthcare PPT</dc:title>
</cp:coreProperties>
</file>